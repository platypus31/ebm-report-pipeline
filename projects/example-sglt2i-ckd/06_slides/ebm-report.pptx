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B3A5C"/>
                </a:solidFill>
              </a:defRPr>
            </a:pPr>
            <a:r>
              <a:t>SGLT2 抑制劑在 CKD 合併第二型糖尿病患者的腎臟保護效果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E86C1"/>
                </a:solidFill>
              </a:defRPr>
            </a:pPr>
            <a:r>
              <a:t>範例報告者 | 2026-04-05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目錄 / 5A 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286000"/>
            <a:ext cx="1371600" cy="109728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ASK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783080" y="2670048"/>
            <a:ext cx="365760" cy="329184"/>
          </a:xfrm>
          <a:prstGeom prst="rightArrow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48840" y="2286000"/>
            <a:ext cx="1371600" cy="109728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ACQUIRE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520440" y="2670048"/>
            <a:ext cx="365760" cy="329184"/>
          </a:xfrm>
          <a:prstGeom prst="rightArrow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86200" y="2286000"/>
            <a:ext cx="1371600" cy="109728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APPRAISE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257800" y="2670048"/>
            <a:ext cx="365760" cy="329184"/>
          </a:xfrm>
          <a:prstGeom prst="rightArrow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23560" y="2286000"/>
            <a:ext cx="1371600" cy="109728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APPLY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995160" y="2670048"/>
            <a:ext cx="365760" cy="329184"/>
          </a:xfrm>
          <a:prstGeom prst="rightArrow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60920" y="2286000"/>
            <a:ext cx="1371600" cy="109728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11480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  ASK — 提出臨床問題、PICO 分析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  ACQUIRE — 6S 搜尋、PRISMA 篩選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  APPRAISE — 嚴格評讀、研究結果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  APPLY — 證據等級、在地化、臨床回覆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  AUDIT — 五面向自我評估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7A589"/>
                </a:solidFill>
              </a:defRPr>
            </a:pPr>
            <a:r>
              <a:t>問題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0"/>
            <a:ext cx="1097280" cy="5486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問題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1975104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檢索 ACQUIRE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2578608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評讀 APPRAISE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3182112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應用 APPLY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3785616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評估 AUDIT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09728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臨床場景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68 歲陳先生，第二型糖尿病病史 15 年，過去一直在門診規則追蹤。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陳先生的腎功能持續惡化（CKD stage 3b），蛋白尿明顯。雖然已使用 ARB 最大劑量，eGFR 仍在過去一年下降 8 mL/min/1.73m²。主治醫師考慮是否加入 SGLT2 抑制劑（如 Dapagliflozin）來延緩腎功能惡化。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**核心問題**：對於已使用 ARB 的 CKD 合併 T2DM 患者，加入 SGLT2 抑制劑是否能有效延緩腎功能惡化？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0"/>
            <a:ext cx="1097280" cy="5486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問題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1975104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檢索 ACQUIRE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2578608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評讀 APPRAISE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3182112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應用 APPLY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3785616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評估 AUDIT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09728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最新檢驗數據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463040" y="1097280"/>
          <a:ext cx="6858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數值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參考值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HbA1c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7.8%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&lt; 7.0%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eGFR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38 mL/min/1.73m²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&gt; 60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UACR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850 mg/g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&lt; 30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Creatinine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1.8 mg/dL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0.7-1.3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K+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4.5 mEq/L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3.5-5.0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0"/>
            <a:ext cx="1097280" cy="5486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問題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1975104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檢索 ACQUIRE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2578608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評讀 APPRAISE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3182112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應用 APPLY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3785616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評估 AUDIT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09728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慢性腎臟病流行病學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慢性腎臟病（Chronic Kidney Disease, CKD）為全球重大公共衛生議題。根據台灣腎臟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醫學會統計，台灣成人 CKD 盛行率約為 12%，推估約有 200 萬人以上受影響。CKD 不僅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增加心血管事件風險，晚期更可能進展至末期腎臟病（End-Stage Renal Disease, ESRD），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需接受透析或腎臟移植治療。台灣長期以來透析盛行率居全球前列，對醫療資源造成沉重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0"/>
            <a:ext cx="1097280" cy="5486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問題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1975104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檢索 ACQUIRE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2578608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評讀 APPRAISE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3182112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應用 APPLY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3785616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評估 AUDIT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09728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第二型糖尿病與慢性腎臟病之關聯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第二型糖尿病（Type 2 Diabetes Mellitus, T2DM）為 CKD 最主要的致病因子之一。糖尿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病腎病變（Diabetic Nephropathy）為台灣新進入透析病患的首要原因，佔所有新透析個案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約 40-45%。長期高血糖狀態導致腎絲球高過濾、基底膜增厚、系膜基質堆積，最終引起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腎絲球硬化及腎小管間質纖維化。隨著病程進展，蛋白尿增加、腎絲球過濾率（eGFR）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逐漸下降，部分患者在 10-20 年內進展至 ESRD。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0"/>
            <a:ext cx="1097280" cy="5486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問題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1975104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檢索 ACQUIRE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2578608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評讀 APPRAISE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3182112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應用 APPLY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3785616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評估 AUDIT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09728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目前治療策略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現行 CKD 合併 T2DM 患者的腎臟保護治療以腎素-血管張力素-醛固酮系統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（Renin-Angiotensin-Aldosterone System, RAAS）阻斷劑為基石，包含血管張力素轉化酶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抑制劑（ACEi）及血管張力素受體阻斷劑（ARB）。此類藥物已被證實可降低蛋白尿、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延緩 eGFR 下降速率，為國際指引建議之一線治療。然而，即使在最佳化 RAAS 阻斷劑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治療下，仍有相當比例的患者持續出現腎功能惡化，顯示目前治療仍有未被滿足的臨床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0"/>
            <a:ext cx="1097280" cy="5486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問題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1975104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檢索 ACQUIRE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2578608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評讀 APPRAISE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3182112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應用 APPLY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3785616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評估 AUDIT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09728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知識缺口與研究動機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鈉-葡萄糖共同轉運蛋白 2 抑制劑（Sodium-Glucose Cotransporter 2 Inhibitors, SGLT2i）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最初開發為降血糖藥物，但近年大型隨機對照試驗（如 CREDENCE、DAPA-CKD、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EMPA-KIDNEY）陸續發現其具有獨立於降糖效果之外的腎臟保護作用。SGLT2i 可能透過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降低腎絲球內壓力（管球回饋機制）、減輕近曲小管氧氣消耗、抑制發炎及纖維化路徑等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然而，對於 SGLT2i 在已接受 RAAS 阻斷劑之 CKD 合併 T2DM 患者中，能否進一步降低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0"/>
            <a:ext cx="1097280" cy="5486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問題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1975104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檢索 ACQUIRE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2578608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評讀 APPRAISE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3182112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應用 APPLY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3785616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評估 AUDIT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09728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參考文獻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1. Wen CP, et al. All-cause mortality attributable to chronic kidney disease: a prospective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cohort study based on 462,293 adults in Taiwan. Lancet. 2008;371(9631):2173-2182.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2. USRDS Annual Data Report. 2023.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3. Heerspink HJL, et al. Dapagliflozin in patients with chronic kidney disease. NEJM.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2020;383(15):1436-1446.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0"/>
            <a:ext cx="1097280" cy="5486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問題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1975104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檢索 ACQUIRE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2578608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評讀 APPRAISE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3182112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應用 APPLY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3785616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評估 AUDIT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09728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臨床問題分類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治療型 (Therapeutic)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3. **結論**: I 為藥物治療 + O 為臨床結果改善 → **治療型**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首選：CASP RCT Checklist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替代：Cochrane RoB 2.0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1. **I 的性質分析**: 介入為 Dapagliflozin 10mg（SGLT2 抑制劑）— 這是一種藥物治療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2. **O 的性質分析**: 結果為腎功能惡化（eGFR 下降、末期腎病、腎臟相關死亡）— 這是臨床結果改善指標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0"/>
            <a:ext cx="1097280" cy="5486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問題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1975104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檢索 ACQUIRE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2578608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評讀 APPRAISE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3182112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應用 APPLY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3785616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評估 AUDIT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09728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最佳證據層級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1. **I 的性質分析**: 介入為 Dapagliflozin 10mg（SGLT2 抑制劑）— 這是一種藥物治療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2. **O 的性質分析**: 結果為腎功能惡化（eGFR 下降、末期腎病、腎臟相關死亡）— 這是臨床結果改善指標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3. **結論**: I 為藥物治療 + O 為臨床結果改善 → **治療型**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1. Systematic Review / Meta-analysis of RCTs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2. Individual RCT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0"/>
            <a:ext cx="1097280" cy="5486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問題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1975104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檢索 ACQUIRE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2578608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評讀 APPRAISE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3182112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應用 APPLY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3785616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評估 AUDIT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09728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PICO 分析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463040" y="1097280"/>
          <a:ext cx="685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PICO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定義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臨床情境關鍵字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MeSH Terms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P (Population)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65 歲以上第二型糖尿病合併慢性腎臟病（eGFR 25-60 mL/min/1.73m²）患者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68 歲, 糖尿病病史 15 年, eGFR 38, CKD stage 3b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"Diabetes Mellitus, Type 2"[MeSH] AND "R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I (Intervention)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Dapagliflozin 10mg 每日一次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加入 SGLT2 抑制劑, 如 Dapagliflozin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"Sodium-Glucose Transporter 2 Inhibitors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C (Comparison)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安慰劑（加上標準糖尿病照護）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已使用 Metformin, Glimepiride, ARB 最大劑量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"Placebos"[MeSH]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O (Outcome)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腎功能惡化（eGFR 持續下降 ≥50%、末期腎病或腎臟相關死亡之複合結局）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腎功能持續惡化, eGFR 下降 8 mL/min/年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"Glomerular Filtration Rate"[MeSH], "Kid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ACQUIRE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7A589"/>
                </a:solidFill>
              </a:defRPr>
            </a:pPr>
            <a:r>
              <a:t>檢索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0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問題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1975104"/>
            <a:ext cx="1097280" cy="5486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檢索 ACQUIRE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2578608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評讀 APPRAISE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3182112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應用 APPLY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3785616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評估 AUDIT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09728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PubMed 搜尋策略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("Diabetes Mellitus, Type 2"[MeSH] OR "type 2 diabetes" OR "T2DM")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AND ("Sodium-Glucose Transporter 2 Inhibitors"[MeSH] OR "SGLT2 inhibitor" OR "dapagliflozin" OR "empagliflozin" OR "canagliflozin")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AND ("Placebos"[MeSH] OR "placebo" OR "standard care")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AND ("Glomerular Filtration Rate"[MeSH] OR "eGFR" OR "renal progression" OR "kidney failure" OR "Kidney Failure, Chronic"[MeSH])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AND (Randomized Controlled Trial[pt] OR Meta-Analysis[pt] OR Systematic Review[pt])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0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問題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1975104"/>
            <a:ext cx="1097280" cy="5486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檢索 ACQUIRE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2578608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評讀 APPRAISE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3182112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應用 APPLY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3785616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評估 AUDIT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09728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搜尋條件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篩選條件**: Publication type = RCT, SR, MA | 時間 = 2019-2026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0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問題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1975104"/>
            <a:ext cx="1097280" cy="5486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檢索 ACQUIRE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2578608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評讀 APPRAISE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3182112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應用 APPLY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3785616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評估 AUDIT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09728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6S 搜尋結果摘要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463040" y="1097280"/>
          <a:ext cx="6858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層級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資料庫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結果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Systems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UpToDate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有 "SGLT2 inhibitors and diabetic kidney disease" 專題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Summaries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DynaMed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有相關摘要，更新至 2026-02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Syntheses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Cochrane Library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2 篇 systematic review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Studies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PubMed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18 篇（移除重複後 15 篇）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Studies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Embase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搜尋策略已建構（需機構帳號）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0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問題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1975104"/>
            <a:ext cx="1097280" cy="5486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檢索 ACQUIRE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2578608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評讀 APPRAISE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3182112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應用 APPLY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3785616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評估 AUDIT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09728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PRISMA 篩選流程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463040" y="1097280"/>
          <a:ext cx="6858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階段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數量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說明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Identification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資料庫搜尋 + 其他來源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移除重複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DOI/PMID/標題比對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Screening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標題/摘要篩選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Eligibility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全文評估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**Included**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**3**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**最終納入分析**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0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問題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1975104"/>
            <a:ext cx="1097280" cy="5486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檢索 ACQUIRE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2578608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評讀 APPRAISE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3182112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應用 APPLY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3785616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評估 AUDIT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09728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候選文獻比較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463040" y="1097280"/>
          <a:ext cx="6858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標題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期刊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年份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研究類型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Dapagliflozin in Patients with Chronic K...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NEJM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2020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RCT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Empagliflozin in Patients with Chronic K...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NEJM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RCT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SGLT2 Inhibitors for CKD: A Systematic R...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JASN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SR/MA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0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問題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1975104"/>
            <a:ext cx="1097280" cy="5486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檢索 ACQUIRE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2578608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評讀 APPRAISE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3182112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應用 APPLY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3785616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評估 AUDIT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09728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選定文獻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463040" y="1097280"/>
          <a:ext cx="6858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  <a:gridCol w="34290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內容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作者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Heerspink HJL, Stefánsson BV, Correa-Rotter R, et al.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期刊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New England Journal of Medicine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年份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2020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PMID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32970396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DOI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10.1056/NEJMoa2024816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0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問題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1975104"/>
            <a:ext cx="1097280" cy="5486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檢索 ACQUIRE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2578608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評讀 APPRAISE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3182112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應用 APPLY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3785616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評估 AUDIT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09728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排除文獻與理由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463040" y="1097280"/>
          <a:ext cx="6858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  <a:gridCol w="34290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文獻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排除理由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EMPA-KIDNEY (NEJM, 2023)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也是優秀 RCT，但 DAPA-CKD 更早發表且為 practice-changing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SGLT2i SR/MA (JASN, 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系統性回顧，但使用者選擇直接評讀原始 RCT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APPRAISE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7A589"/>
                </a:solidFill>
              </a:defRPr>
            </a:pPr>
            <a:r>
              <a:t>評讀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0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問題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1975104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檢索 ACQUIRE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2578608"/>
            <a:ext cx="1097280" cy="5486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評讀 APPRAISE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3182112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應用 APPLY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3785616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評估 AUDIT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09728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評讀工具選擇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**CASP RCT Checklist**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1. 文獻類型為 **RCT（隨機對照試驗）** 2. CASP RCT Checklist 是台灣 PGY EBM 訓練最常用的 RCT 評讀工具 3. 結構清晰（3 sections, 11 questions），適合做簡報呈現 4. 涵蓋 Validity → Results → Applicability 完整評讀面向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如需更精細的偏差風險評估，可使用 Cochrane RoB 2.0（5 domains）。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0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問題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1975104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檢索 ACQUIRE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2578608"/>
            <a:ext cx="1097280" cy="5486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評讀 APPRAISE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3182112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應用 APPLY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3785616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評估 AUDIT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09728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Section A — Validity（效度） (1)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463040" y="1097280"/>
          <a:ext cx="68580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743200"/>
                <a:gridCol w="731520"/>
                <a:gridCol w="283464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題號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問題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判定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佐證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C3E50"/>
                          </a:solidFill>
                        </a:defRPr>
                      </a:pPr>
                      <a:r>
                        <a:t>Q1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此研究是否問了一個清楚明確的問題？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</a:defRPr>
                      </a:pPr>
                      <a:r>
                        <a:t>Methods, p.2: 'We aimed to assess the effect of dapagliflozin on a composite of 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C3E50"/>
                          </a:solidFill>
                        </a:defRPr>
                      </a:pPr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受試者是否隨機分配？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</a:defRPr>
                      </a:pPr>
                      <a:r>
                        <a:t>Methods, p.3: 'Patients were randomly assigned in a 1:1 ratio to receive dapagli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C3E50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是否所有受試者都被追蹤到研究結束？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</a:defRPr>
                      </a:pPr>
                      <a:r>
                        <a:t>Results, p.5: 'The vital status was known for 99.7% of the participants at the e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C3E50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受試者是否盲化？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</a:defRPr>
                      </a:pPr>
                      <a:r>
                        <a:t>Methods, p.3: 'This was a randomized, double-blind, placebo-controlled, multicen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0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問題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1975104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檢索 ACQUIRE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2578608"/>
            <a:ext cx="1097280" cy="5486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評讀 APPRAISE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3182112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應用 APPLY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3785616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評估 AUDIT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09728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Section A — Validity（效度） (2)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463040" y="1097280"/>
          <a:ext cx="685800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743200"/>
                <a:gridCol w="731520"/>
                <a:gridCol w="283464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題號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問題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判定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佐證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C3E50"/>
                          </a:solidFill>
                        </a:defRPr>
                      </a:pPr>
                      <a:r>
                        <a:t>Q5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各組在研究開始時是否相似？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</a:defRPr>
                      </a:pPr>
                      <a:r>
                        <a:t>Table 1: Baseline characteristics were well balanced between groups.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C3E50"/>
                          </a:solidFill>
                        </a:defRPr>
                      </a:pPr>
                      <a:r>
                        <a:t>Q6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各組是否受到同等對待？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</a:defRPr>
                      </a:pPr>
                      <a:r>
                        <a:t>Methods: Both groups received standard care including ACEi/ARB.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0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問題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1975104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檢索 ACQUIRE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2578608"/>
            <a:ext cx="1097280" cy="5486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評讀 APPRAISE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3182112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應用 APPLY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3785616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評估 AUDIT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09728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Section B — Results（結果）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463040" y="1097280"/>
          <a:ext cx="685800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743200"/>
                <a:gridCol w="731520"/>
                <a:gridCol w="283464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題號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問題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判定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佐證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C3E50"/>
                          </a:solidFill>
                        </a:defRPr>
                      </a:pPr>
                      <a:r>
                        <a:t>Q7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治療效果有多大？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7F8C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</a:defRPr>
                      </a:pPr>
                      <a:r>
                        <a:t>Results, p.6: 'HR 0.61 (95% CI, 0.51-0.72; P&lt;0.001) for the primary composite ou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C3E50"/>
                          </a:solidFill>
                        </a:defRPr>
                      </a:pPr>
                      <a:r>
                        <a:t>Q8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效果估計有多精確？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7F8C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</a:defRPr>
                      </a:pPr>
                      <a:r>
                        <a:t>95% CI: 0.51-0.72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0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問題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1975104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檢索 ACQUIRE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2578608"/>
            <a:ext cx="1097280" cy="5486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評讀 APPRAISE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3182112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應用 APPLY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3785616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評估 AUDIT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09728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Section C — Applicability（適用性）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463040" y="1097280"/>
          <a:ext cx="6858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743200"/>
                <a:gridCol w="731520"/>
                <a:gridCol w="283464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題號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問題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判定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佐證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C3E50"/>
                          </a:solidFill>
                        </a:defRPr>
                      </a:pPr>
                      <a:r>
                        <a:t>Q9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結果能否應用於本地族群？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</a:defRPr>
                      </a:pPr>
                      <a:r>
                        <a:t>Table 1: 13% of participants were from Asia (including Taiwan sites).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C3E50"/>
                          </a:solidFill>
                        </a:defRPr>
                      </a:pPr>
                      <a:r>
                        <a:t>Q10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是否考慮所有臨床重要結果？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</a:defRPr>
                      </a:pPr>
                      <a:r>
                        <a:t>Results: Primary composite + secondary outcomes including CV death, HF hospitali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C3E50"/>
                          </a:solidFill>
                        </a:defRPr>
                      </a:pPr>
                      <a:r>
                        <a:t>Q11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效益是否超過傷害和成本？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</a:defRPr>
                      </a:pPr>
                      <a:r>
                        <a:t>Safety: DKA 0.3% vs 0.1%; no increased hypoglycemia or AKI.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0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問題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1975104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檢索 ACQUIRE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2578608"/>
            <a:ext cx="1097280" cy="5486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評讀 APPRAISE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3182112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應用 APPLY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3785616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評估 AUDIT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09728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利益衝突檢核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通訊作者 Heerspink HJL：University Medical Center Groningen（學術機構）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部分共同作者為 AstraZeneca 員工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多位作者曾擔任 AstraZeneca 顧問或接受演講費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0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問題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1975104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檢索 ACQUIRE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2578608"/>
            <a:ext cx="1097280" cy="5486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評讀 APPRAISE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3182112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應用 APPLY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3785616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評估 AUDIT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09728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Primary Outcome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463040" y="1097280"/>
          <a:ext cx="6858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指標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Dapagliflozin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Placebo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HR (95% CI)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P-value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Primary composite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9.2%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14.5%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**0.61 (0.51-0.72)**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**&lt; 0.001**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ARR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NNT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**19** (over 2.4 yr)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0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問題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1975104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檢索 ACQUIRE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2578608"/>
            <a:ext cx="1097280" cy="5486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評讀 APPRAISE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3182112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應用 APPLY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3785616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評估 AUDIT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09728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Secondary Outcomes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463040" y="1097280"/>
          <a:ext cx="6858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結局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HR (95% CI)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P-value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腎臟複合結局（不含 CV death）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0.56 (0.45-0.68)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&lt; 0.001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CV death or HF hospitalization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0.71 (0.55-0.92)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0.009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All-cause mortality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0.69 (0.53-0.88)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0.004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0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問題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1975104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檢索 ACQUIRE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2578608"/>
            <a:ext cx="1097280" cy="5486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評讀 APPRAISE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3182112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應用 APPLY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3785616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評估 AUDIT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09728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安全性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463040" y="1097280"/>
          <a:ext cx="685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不良事件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Dapagliflozin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Placebo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DKA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0.3%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0.1%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嚴重低血糖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1.3%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AKI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1.0%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1.4%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Fournier's gangrene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0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問題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1975104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檢索 ACQUIRE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2578608"/>
            <a:ext cx="1097280" cy="5486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評讀 APPRAISE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3182112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應用 APPLY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3785616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評估 AUDIT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09728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GRADE 證據品質評定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463040" y="1097280"/>
          <a:ext cx="6858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判定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說明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起始等級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High (RCT)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Risk of 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不降級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適當隨機化、盲化、低退出率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Inconsistency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不降級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亞組分析結果一致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Indirectness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不降級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PICO 完全符合，含亞洲人口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Imprecision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不降級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CI 窄、P &lt; 0.001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Publication 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不降級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已註冊試驗，多中心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**最終等級**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**High**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⊕⊕⊕⊕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7A589"/>
                </a:solidFill>
              </a:defRPr>
            </a:pPr>
            <a:r>
              <a:t>應用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0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問題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1975104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檢索 ACQUIRE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2578608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評讀 APPRAISE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3182112"/>
            <a:ext cx="1097280" cy="5486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應用 APPLY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3785616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評估 AUDIT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09728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OCEBM 證據等級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Level 2** — Individual RCT (with narrow confidence interval)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0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問題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1975104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檢索 ACQUIRE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2578608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評讀 APPRAISE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3182112"/>
            <a:ext cx="1097280" cy="5486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應用 APPLY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3785616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評估 AUDIT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09728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OCEBM 2011 證據層級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463040" y="1097280"/>
          <a:ext cx="6858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Level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研究設計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本文獻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SR of RCTs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**2**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**Individual RCT**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**← DAPA-CKD**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Cohort study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Case 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Expert opinion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0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問題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1975104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檢索 ACQUIRE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2578608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評讀 APPRAISE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3182112"/>
            <a:ext cx="1097280" cy="5486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應用 APPLY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3785616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評估 AUDIT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09728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台灣在地化考量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台灣健保自 2024 年起已給付 Dapagliflozin (Forxiga) 用於 CKD 患者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給付條件：eGFR 25-75 mL/min/1.73m²，合併蛋白尿（UACR &gt; 200 mg/g）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每月藥費約 NT$1,200（健保價）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台灣腎臟醫學會 2024 CKD 指引已將 SGLT2i 列為第一線建議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建議在 ACEi/ARB 最大耐受劑量基礎上加入 SGLT2i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0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問題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1975104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檢索 ACQUIRE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2578608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評讀 APPRAISE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3182112"/>
            <a:ext cx="1097280" cy="5486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應用 APPLY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3785616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評估 AUDIT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09728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臨床回覆 (1/2)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陳先生，您的腎功能目前在中度到重度之間，加上糖尿病和蛋白尿，腎功能有持續惡化的風險。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根據目前最好的研究證據，有一種叫做「排糖藥」（Dapagliflozin）的藥物，經過四千多人的大型研究證實，可以讓腎功能惡化的風險降低大約四成。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具體來說，如果 100 位像您這樣的病人，不吃這個藥的話大約有 15 位會在兩年多內腎功能嚴重惡化，吃了這個藥可以減少到大約 9 位。也就是說，每治療 19 位病人，就能多保護 1 位的腎功能。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0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問題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1975104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檢索 ACQUIRE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2578608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評讀 APPRAISE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3182112"/>
            <a:ext cx="1097280" cy="5486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應用 APPLY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3785616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評估 AUDIT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09728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臨床回覆 (2/2)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這個藥的安全性也不錯，最常見的副作用是泌尿道感染（約 1-2%），少數人可能有血酮酸升高的情況。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這個藥台灣健保有給付，您的條件符合給付標準，每個月不用額外負擔藥費。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我的建議是在您目前的藥物基礎上，加入這個藥來保護腎功能。我們每三個月追蹤一次腎功能，看看效果如何。您覺得怎麼樣？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7A589"/>
                </a:solidFill>
              </a:defRPr>
            </a:pPr>
            <a:r>
              <a:t>評估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0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問題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1975104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檢索 ACQUIRE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2578608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評讀 APPRAISE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3182112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應用 APPLY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3785616"/>
            <a:ext cx="1097280" cy="5486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評估 AUDIT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09728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自我評估：1. 提出臨床問題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[✓] 問題是否具有臨床重要性？— 是，CKD + T2DM 是腎臟科最常見的問題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[✓] 問題是否明確陳述？— 是，PICO 結構完整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[✓] 問題定位是否清楚？— 是，治療型問題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0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問題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1975104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檢索 ACQUIRE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2578608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評讀 APPRAISE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3182112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應用 APPLY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3785616"/>
            <a:ext cx="1097280" cy="5486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評估 AUDIT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09728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自我評估：2. 搜尋最佳證據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[✓] 是否盡全力搜尋？— 是，使用 PubMed + Cochrane + ClinicalTrials.gov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[✓] 是否知道最佳來源？— 是，依 6S 金字塔由上往下搜尋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[✓] 是否多資料庫搜尋？— 是，3 個以上資料庫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0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問題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1975104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檢索 ACQUIRE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2578608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評讀 APPRAISE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3182112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應用 APPLY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3785616"/>
            <a:ext cx="1097280" cy="5486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評估 AUDIT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09728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自我評估：3. 搜尋技巧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[✓] 搜尋是否使用 MeSH terms？— 是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[✓] 是否使用布林邏輯？— 是 (AND/OR)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[✓] 是否使用 publication type filter？— 是 (RCT, SR, MA)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[✗] 搜尋能力是否優於同事？— 仍有進步空間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0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問題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1975104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檢索 ACQUIRE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2578608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評讀 APPRAISE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3182112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應用 APPLY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3785616"/>
            <a:ext cx="1097280" cy="5486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評估 AUDIT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09728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自我評估：4. 應用到臨床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[✓] 是否考慮在地因素？— 是，考慮台灣健保、用藥可取得性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[✓] 能否用病人聽得懂的話解釋？— 是，已準備去學術化回覆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[✓] 當證據與實際做法不同時如何解釋？— 此證據與現行指引一致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0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問題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1975104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檢索 ACQUIRE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2578608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評讀 APPRAISE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3182112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應用 APPLY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3785616"/>
            <a:ext cx="1097280" cy="5486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評估 AUDIT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09728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自我評估：5. 改變醫療行為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[✓] 這次 EBM 練習是否改變了臨床決策？— 是，更有信心建議 CKD 患者使用 SGLT2i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總共花費時間：約 4 小時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0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問題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1975104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檢索 ACQUIRE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2578608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評讀 APPRAISE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3182112"/>
            <a:ext cx="109728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C3E50"/>
                </a:solidFill>
              </a:defRPr>
            </a:pPr>
            <a:r>
              <a:t>應用 APPLY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3785616"/>
            <a:ext cx="1097280" cy="5486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評估 AUDIT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09728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1. Wen CP, et al. All-cause mortality attributable to chronic kidney disease: a prospective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2. USRDS Annual Data Report. 2023.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3. Heerspink HJL, et al. Dapagliflozin in patients with chronic kidney disease. NEJM.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4. Perkovic V, et al. Canagliflozin and renal outcomes in type 2 diabetes and nephropathy.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PMID | 32970396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